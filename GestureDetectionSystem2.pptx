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357" r:id="rId5"/>
    <p:sldId id="358" r:id="rId6"/>
    <p:sldId id="345" r:id="rId7"/>
    <p:sldId id="364" r:id="rId8"/>
    <p:sldId id="359" r:id="rId9"/>
    <p:sldId id="374" r:id="rId10"/>
    <p:sldId id="373" r:id="rId11"/>
    <p:sldId id="379" r:id="rId12"/>
    <p:sldId id="367" r:id="rId13"/>
    <p:sldId id="361" r:id="rId14"/>
    <p:sldId id="362" r:id="rId15"/>
    <p:sldId id="372" r:id="rId16"/>
    <p:sldId id="375" r:id="rId17"/>
    <p:sldId id="376" r:id="rId18"/>
    <p:sldId id="378" r:id="rId19"/>
    <p:sldId id="377" r:id="rId20"/>
    <p:sldId id="366" r:id="rId21"/>
    <p:sldId id="369" r:id="rId22"/>
    <p:sldId id="348" r:id="rId23"/>
    <p:sldId id="35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A3D024-909B-3BC2-1496-FEEAB652808A}" name="Sher Dionisio" initials="" userId="S::Sher.Dionisio@teksystemsgs.com::02daa716-9709-4d47-a153-1943ce1675c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24C6CA"/>
    <a:srgbClr val="D0D2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928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orient="horz" pos="175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109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440F78-2C9E-4C7F-818C-B40BB19D3A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D3FB98-80B9-4155-809A-82659D34A0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18EB1-FF96-47AA-9A30-F1BFF2FFD1F7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EF847-3492-4888-9C23-1504238536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48C54-2332-4748-9C65-6A27E550C1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75FB2-D12E-4669-8522-D3E2C7E6DC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91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4A361-7934-4769-9B16-8A939698742C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8E0B9-48E4-499D-93B2-B07D00395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043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700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345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878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A39D92-9919-A80E-44FF-6B912E85073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8788" y="457200"/>
            <a:ext cx="11274425" cy="5943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2FF34D-C8F8-1796-647D-D17056A27E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955" y="612475"/>
            <a:ext cx="4701904" cy="3079029"/>
          </a:xfrm>
        </p:spPr>
        <p:txBody>
          <a:bodyPr anchor="b">
            <a:normAutofit/>
          </a:bodyPr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0768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229E2-8757-94D8-A1B6-702189DC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3249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77143C8-CDFF-B937-C00C-5E7B509399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83920"/>
            <a:ext cx="4114800" cy="50596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82637A1-1BB4-AF51-24C3-6FE78DD45D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438400"/>
            <a:ext cx="4799012" cy="350520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57200" indent="0">
              <a:lnSpc>
                <a:spcPct val="125000"/>
              </a:lnSpc>
              <a:buNone/>
              <a:defRPr sz="1600"/>
            </a:lvl2pPr>
            <a:lvl3pPr marL="914400" indent="0">
              <a:lnSpc>
                <a:spcPct val="125000"/>
              </a:lnSpc>
              <a:buNone/>
              <a:defRPr sz="1400"/>
            </a:lvl3pPr>
            <a:lvl4pPr marL="1371600" indent="0">
              <a:lnSpc>
                <a:spcPct val="125000"/>
              </a:lnSpc>
              <a:buNone/>
              <a:defRPr sz="1200"/>
            </a:lvl4pPr>
            <a:lvl5pPr marL="1828800" indent="0">
              <a:lnSpc>
                <a:spcPct val="125000"/>
              </a:lnSpc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56F59DF2-AB3C-B7B3-826A-636B8CC5AB3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68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737016-0B2B-9F81-7A77-63223C486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34E572-08FE-0439-A460-8DFE1183A6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8742" y="914399"/>
            <a:ext cx="4798858" cy="502919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1EB46EC-087C-B8FF-2363-B99FAE983B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5713413" cy="50292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2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1D49246-C641-C3BA-F07B-89FFC6CDA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853439"/>
            <a:ext cx="4802373" cy="2833689"/>
          </a:xfrm>
        </p:spPr>
        <p:txBody>
          <a:bodyPr rIns="914400" anchor="b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BE7E1DF-A70C-8F79-9B76-72B2A7B4DC7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93191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CD5F637-DFBF-7FED-7CD5-F46A26E5CD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33E3B934-3E16-21AF-8F5A-9EFD93255705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05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D872928-B479-F7C5-9C83-C448FBA36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20445"/>
            <a:ext cx="4114800" cy="50292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61E3771A-E1EB-0CBE-828C-2C5E1F2AE6C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75227" y="1020445"/>
            <a:ext cx="4802735" cy="5029200"/>
          </a:xfrm>
        </p:spPr>
        <p:txBody>
          <a:bodyPr anchor="ctr">
            <a:normAutofit/>
          </a:bodyPr>
          <a:lstStyle>
            <a:lvl1pPr marL="22860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lvl1pPr>
            <a:lvl2pPr marL="41148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lvl2pPr>
            <a:lvl3pPr marL="59436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/>
            </a:lvl3pPr>
            <a:lvl4pPr marL="77724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4pPr>
            <a:lvl5pPr marL="96012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A1635D-96F0-769B-4ECB-70502770A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4F877767-0342-A344-0462-A0D877FF68F8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52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21F215D-0D9E-64B3-1F66-E90B87932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00741"/>
            <a:ext cx="4802372" cy="278891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E86A4459-11C2-44C6-0173-C666D5AADC1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82523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84EF14-0982-D931-9DD6-ECFE61D5B0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7D7E927E-4F73-5579-4F1D-E13899DEEA0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06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0" y="2153285"/>
            <a:ext cx="4953001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09360" y="2153285"/>
            <a:ext cx="51358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5D7E8F5-692D-24DD-0F8C-9563BA74AAF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43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1" y="2153285"/>
            <a:ext cx="3261359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480560" y="2153285"/>
            <a:ext cx="69646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C0F1533-3810-C210-9B67-D2F4A1846C23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16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9C70371-D147-2B29-EAEB-B10A799D0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169" y="614812"/>
            <a:ext cx="10359659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5AE226-98C6-70F4-8DED-59E8FE3040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67" y="2177378"/>
            <a:ext cx="5713413" cy="4669987"/>
          </a:xfrm>
          <a:custGeom>
            <a:avLst/>
            <a:gdLst>
              <a:gd name="connsiteX0" fmla="*/ 400038 w 5713413"/>
              <a:gd name="connsiteY0" fmla="*/ 0 h 4669987"/>
              <a:gd name="connsiteX1" fmla="*/ 5713413 w 5713413"/>
              <a:gd name="connsiteY1" fmla="*/ 0 h 4669987"/>
              <a:gd name="connsiteX2" fmla="*/ 5713413 w 5713413"/>
              <a:gd name="connsiteY2" fmla="*/ 4315224 h 4669987"/>
              <a:gd name="connsiteX3" fmla="*/ 400038 w 5713413"/>
              <a:gd name="connsiteY3" fmla="*/ 4315224 h 4669987"/>
              <a:gd name="connsiteX4" fmla="*/ 0 w 5713413"/>
              <a:gd name="connsiteY4" fmla="*/ 0 h 4669987"/>
              <a:gd name="connsiteX5" fmla="*/ 386684 w 5713413"/>
              <a:gd name="connsiteY5" fmla="*/ 0 h 4669987"/>
              <a:gd name="connsiteX6" fmla="*/ 386684 w 5713413"/>
              <a:gd name="connsiteY6" fmla="*/ 4328578 h 4669987"/>
              <a:gd name="connsiteX7" fmla="*/ 5713413 w 5713413"/>
              <a:gd name="connsiteY7" fmla="*/ 4328578 h 4669987"/>
              <a:gd name="connsiteX8" fmla="*/ 5713413 w 5713413"/>
              <a:gd name="connsiteY8" fmla="*/ 4669987 h 4669987"/>
              <a:gd name="connsiteX9" fmla="*/ 0 w 5713413"/>
              <a:gd name="connsiteY9" fmla="*/ 4669987 h 466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13413" h="4669987">
                <a:moveTo>
                  <a:pt x="400038" y="0"/>
                </a:moveTo>
                <a:lnTo>
                  <a:pt x="5713413" y="0"/>
                </a:lnTo>
                <a:lnTo>
                  <a:pt x="5713413" y="4315224"/>
                </a:lnTo>
                <a:lnTo>
                  <a:pt x="400038" y="4315224"/>
                </a:lnTo>
                <a:close/>
                <a:moveTo>
                  <a:pt x="0" y="0"/>
                </a:moveTo>
                <a:lnTo>
                  <a:pt x="386684" y="0"/>
                </a:lnTo>
                <a:lnTo>
                  <a:pt x="386684" y="4328578"/>
                </a:lnTo>
                <a:lnTo>
                  <a:pt x="5713413" y="4328578"/>
                </a:lnTo>
                <a:lnTo>
                  <a:pt x="5713413" y="4669987"/>
                </a:lnTo>
                <a:lnTo>
                  <a:pt x="0" y="46699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EEA9034-22FD-3C2F-6A27-6363896980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153285"/>
            <a:ext cx="4799012" cy="3790315"/>
          </a:xfrm>
        </p:spPr>
        <p:txBody>
          <a:bodyPr>
            <a:normAutofit/>
          </a:bodyPr>
          <a:lstStyle>
            <a:lvl1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2000"/>
            </a:lvl1pPr>
            <a:lvl2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800"/>
            </a:lvl2pPr>
            <a:lvl3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600"/>
            </a:lvl3pPr>
            <a:lvl4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4pPr>
            <a:lvl5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2AFED-AF5A-A2E9-0D36-388733BBE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7A42E613-3DCC-07A2-BA9B-74B13F28E59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90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30338E2-B50A-8F3E-2CA7-A75753E7E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2629" y="598947"/>
            <a:ext cx="1051560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C8DD029-A673-92B9-0343-3B35BE46D2F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9641" y="2153285"/>
            <a:ext cx="3032759" cy="3790310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6E658BA3-0202-C705-7A02-8B70B788442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724400" y="2170621"/>
            <a:ext cx="6553200" cy="3772974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BD761E53-47C7-492A-D5B5-A8C2740B5157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5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2" y="2153285"/>
            <a:ext cx="6925660" cy="3500438"/>
          </a:xfrm>
        </p:spPr>
        <p:txBody>
          <a:bodyPr lIns="91440">
            <a:normAutofit/>
          </a:bodyPr>
          <a:lstStyle>
            <a:lvl1pPr marL="0" indent="0">
              <a:spcBef>
                <a:spcPts val="1000"/>
              </a:spcBef>
              <a:spcAft>
                <a:spcPts val="1200"/>
              </a:spcAft>
              <a:buNone/>
              <a:defRPr sz="1800" b="0"/>
            </a:lvl1pPr>
            <a:lvl2pPr marL="228600">
              <a:spcBef>
                <a:spcPts val="1000"/>
              </a:spcBef>
              <a:spcAft>
                <a:spcPts val="1200"/>
              </a:spcAft>
              <a:defRPr sz="1800" b="0"/>
            </a:lvl2pPr>
            <a:lvl3pPr marL="685800">
              <a:spcBef>
                <a:spcPts val="1000"/>
              </a:spcBef>
              <a:spcAft>
                <a:spcPts val="1200"/>
              </a:spcAft>
              <a:defRPr sz="1800" b="0"/>
            </a:lvl3pPr>
            <a:lvl4pPr marL="868680">
              <a:spcBef>
                <a:spcPts val="1000"/>
              </a:spcBef>
              <a:spcAft>
                <a:spcPts val="1200"/>
              </a:spcAft>
              <a:defRPr sz="1800" b="0"/>
            </a:lvl4pPr>
            <a:lvl5pPr marL="1143000">
              <a:spcBef>
                <a:spcPts val="1000"/>
              </a:spcBef>
              <a:spcAft>
                <a:spcPts val="1200"/>
              </a:spcAft>
              <a:defRPr sz="18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215745" y="2153285"/>
            <a:ext cx="3229495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C9F70CF1-DCAD-AE71-6B34-7BFB25EE530B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235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33145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CF90928-AB48-3554-E2B9-417A00F286A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930275" y="2168526"/>
            <a:ext cx="10331450" cy="393906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D6C0A7-887A-66E2-A954-5E0592B9F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688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BB1E76-5845-01C9-1D0D-03CFFE6F0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6C21AF-4286-DECE-37A1-E8980687A1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655320"/>
            <a:ext cx="4572000" cy="5486400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E1D6B3-3EC8-6AC4-BE2B-5C732C85679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773680"/>
            <a:ext cx="4572000" cy="336804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457200" indent="0">
              <a:spcBef>
                <a:spcPts val="1000"/>
              </a:spcBef>
              <a:buNone/>
              <a:defRPr sz="1600"/>
            </a:lvl2pPr>
            <a:lvl3pPr marL="914400" indent="0">
              <a:spcBef>
                <a:spcPts val="1000"/>
              </a:spcBef>
              <a:buNone/>
              <a:defRPr sz="1400"/>
            </a:lvl3pPr>
            <a:lvl4pPr marL="1371600" indent="0">
              <a:spcBef>
                <a:spcPts val="1000"/>
              </a:spcBef>
              <a:buNone/>
              <a:defRPr sz="1200"/>
            </a:lvl4pPr>
            <a:lvl5pPr marL="1828800" indent="0"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113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920" userDrawn="1">
          <p15:clr>
            <a:srgbClr val="F26B43"/>
          </p15:clr>
        </p15:guide>
        <p15:guide id="4" pos="5760" userDrawn="1">
          <p15:clr>
            <a:srgbClr val="F26B43"/>
          </p15:clr>
        </p15:guide>
        <p15:guide id="5" pos="7248" userDrawn="1">
          <p15:clr>
            <a:srgbClr val="F26B43"/>
          </p15:clr>
        </p15:guide>
        <p15:guide id="6" pos="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>
            <a:extLst>
              <a:ext uri="{FF2B5EF4-FFF2-40B4-BE49-F238E27FC236}">
                <a16:creationId xmlns:a16="http://schemas.microsoft.com/office/drawing/2014/main" id="{3AE688BE-4519-350E-31EB-EC4477AE3305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8940" y="672336"/>
            <a:ext cx="1734820" cy="17786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54B41E-7C62-983F-767C-435B8286FA93}"/>
              </a:ext>
            </a:extLst>
          </p:cNvPr>
          <p:cNvSpPr txBox="1"/>
          <p:nvPr/>
        </p:nvSpPr>
        <p:spPr>
          <a:xfrm>
            <a:off x="3810000" y="904778"/>
            <a:ext cx="6096000" cy="1546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 algn="ctr">
              <a:lnSpc>
                <a:spcPct val="115000"/>
              </a:lnSpc>
              <a:spcAft>
                <a:spcPts val="825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SRI VENKATAESHWARA COLLEGE OF ENGINEERING AND TECHNOLOGY (AUTONOMOUS)</a:t>
            </a:r>
            <a:endParaRPr lang="en-IN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indent="-6350" algn="ctr">
              <a:lnSpc>
                <a:spcPct val="115000"/>
              </a:lnSpc>
              <a:spcAft>
                <a:spcPts val="825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R.V.S Nagar, Chittoor – 517 127. (A.P)</a:t>
            </a:r>
          </a:p>
          <a:p>
            <a:pPr marL="6350" indent="-6350" algn="ctr">
              <a:lnSpc>
                <a:spcPct val="115000"/>
              </a:lnSpc>
              <a:spcAft>
                <a:spcPts val="825"/>
              </a:spcAft>
            </a:pPr>
            <a:r>
              <a:rPr lang="en-US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Department of </a:t>
            </a: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Information Technology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sz="16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BC2574-F23B-B67A-4CC9-C0EF1309848A}"/>
              </a:ext>
            </a:extLst>
          </p:cNvPr>
          <p:cNvSpPr txBox="1"/>
          <p:nvPr/>
        </p:nvSpPr>
        <p:spPr>
          <a:xfrm>
            <a:off x="1849120" y="2748071"/>
            <a:ext cx="83007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Language Gesture Detection &amp; Communication Support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2BFE22-83CC-2B3A-297C-D6F4692762FC}"/>
              </a:ext>
            </a:extLst>
          </p:cNvPr>
          <p:cNvSpPr txBox="1"/>
          <p:nvPr/>
        </p:nvSpPr>
        <p:spPr>
          <a:xfrm>
            <a:off x="1021080" y="4272489"/>
            <a:ext cx="52933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6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ANNEM VASU GOWTHAM REDDY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(22781A1202)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IVASAPURAM CHARAN KUMAR (22781A1236)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6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DUGGINENI KAVITHA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(22781A1226)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16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KANDLAKUTI DINESH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(22781A1249)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16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CHENNAMSETTI HEMANTH KUMAR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(22781A1215)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01392D-B296-80ED-E130-FEF456C092AA}"/>
              </a:ext>
            </a:extLst>
          </p:cNvPr>
          <p:cNvSpPr txBox="1"/>
          <p:nvPr/>
        </p:nvSpPr>
        <p:spPr>
          <a:xfrm>
            <a:off x="7866380" y="4272489"/>
            <a:ext cx="33045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/>
              <a:t>Mr.R.Gunasekaran</a:t>
            </a:r>
            <a:endParaRPr lang="en-US" b="1" dirty="0"/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 professor 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</a:p>
        </p:txBody>
      </p:sp>
      <p:sp>
        <p:nvSpPr>
          <p:cNvPr id="16" name="Half Frame 15">
            <a:extLst>
              <a:ext uri="{FF2B5EF4-FFF2-40B4-BE49-F238E27FC236}">
                <a16:creationId xmlns:a16="http://schemas.microsoft.com/office/drawing/2014/main" id="{B82CEBC1-F495-D758-D95C-EC5635332204}"/>
              </a:ext>
            </a:extLst>
          </p:cNvPr>
          <p:cNvSpPr/>
          <p:nvPr/>
        </p:nvSpPr>
        <p:spPr>
          <a:xfrm>
            <a:off x="0" y="1"/>
            <a:ext cx="2194560" cy="2255519"/>
          </a:xfrm>
          <a:prstGeom prst="halfFram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05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BD2CAD3-28E2-F973-00A5-F04202712E03}"/>
              </a:ext>
            </a:extLst>
          </p:cNvPr>
          <p:cNvSpPr txBox="1"/>
          <p:nvPr/>
        </p:nvSpPr>
        <p:spPr>
          <a:xfrm>
            <a:off x="1635760" y="1127760"/>
            <a:ext cx="5740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ptos Narrow" panose="020B0004020202020204" pitchFamily="34" charset="0"/>
                <a:cs typeface="Times New Roman" panose="02020603050405020304" pitchFamily="18" charset="0"/>
              </a:rPr>
              <a:t>AGENDA 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>
                <a:latin typeface="Aptos Display" panose="020B0004020202020204" pitchFamily="34" charset="0"/>
                <a:cs typeface="Arial" panose="020B0604020202020204" pitchFamily="34" charset="0"/>
              </a:rPr>
              <a:t>System Design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>
                <a:latin typeface="Aptos Display" panose="020B0004020202020204" pitchFamily="34" charset="0"/>
                <a:cs typeface="Arial" panose="020B0604020202020204" pitchFamily="34" charset="0"/>
              </a:rPr>
              <a:t>System Architecture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>
                <a:latin typeface="Aptos Display" panose="020B0004020202020204" pitchFamily="34" charset="0"/>
                <a:cs typeface="Arial" panose="020B0604020202020204" pitchFamily="34" charset="0"/>
              </a:rPr>
              <a:t>Database Design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>
                <a:latin typeface="Aptos Display" panose="020B0004020202020204" pitchFamily="34" charset="0"/>
                <a:cs typeface="Arial" panose="020B0604020202020204" pitchFamily="34" charset="0"/>
              </a:rPr>
              <a:t>UML Diagrams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>
                <a:latin typeface="Aptos Display" panose="020B0004020202020204" pitchFamily="34" charset="0"/>
                <a:cs typeface="Arial" panose="020B0604020202020204" pitchFamily="34" charset="0"/>
              </a:rPr>
              <a:t>Technology Stack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>
                <a:latin typeface="Aptos Display" panose="020B0004020202020204" pitchFamily="34" charset="0"/>
                <a:cs typeface="Arial" panose="020B0604020202020204" pitchFamily="34" charset="0"/>
              </a:rPr>
              <a:t>Data Preprocessing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>
                <a:latin typeface="Aptos Display" panose="020B0004020202020204" pitchFamily="34" charset="0"/>
                <a:cs typeface="Arial" panose="020B0604020202020204" pitchFamily="34" charset="0"/>
              </a:rPr>
              <a:t>Model Training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>
                <a:latin typeface="Aptos Display" panose="020B0004020202020204" pitchFamily="34" charset="0"/>
                <a:cs typeface="Arial" panose="020B0604020202020204" pitchFamily="34" charset="0"/>
              </a:rPr>
              <a:t>Model Evaluation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>
                <a:latin typeface="Aptos Display" panose="020B0004020202020204" pitchFamily="34" charset="0"/>
                <a:cs typeface="Arial" panose="020B0604020202020204" pitchFamily="34" charset="0"/>
              </a:rPr>
              <a:t>Testing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>
                <a:latin typeface="Aptos Display" panose="020B0004020202020204" pitchFamily="34" charset="0"/>
                <a:cs typeface="Arial" panose="020B0604020202020204" pitchFamily="34" charset="0"/>
              </a:rPr>
              <a:t>Results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>
                <a:latin typeface="Aptos Display" panose="020B0004020202020204" pitchFamily="34" charset="0"/>
                <a:cs typeface="Arial" panose="020B0604020202020204" pitchFamily="34" charset="0"/>
              </a:rPr>
              <a:t>Advantages &amp; Limitations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>
                <a:latin typeface="Aptos Display" panose="020B0004020202020204" pitchFamily="34" charset="0"/>
                <a:cs typeface="Arial" panose="020B0604020202020204" pitchFamily="34" charset="0"/>
              </a:rPr>
              <a:t>Future Scope &amp; Conclusion</a:t>
            </a: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C84F84A7-26AD-9D97-3106-47D3CF8F56EE}"/>
              </a:ext>
            </a:extLst>
          </p:cNvPr>
          <p:cNvSpPr/>
          <p:nvPr/>
        </p:nvSpPr>
        <p:spPr>
          <a:xfrm>
            <a:off x="0" y="1"/>
            <a:ext cx="2194560" cy="2255519"/>
          </a:xfrm>
          <a:prstGeom prst="halfFram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1031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alf Frame 7">
            <a:extLst>
              <a:ext uri="{FF2B5EF4-FFF2-40B4-BE49-F238E27FC236}">
                <a16:creationId xmlns:a16="http://schemas.microsoft.com/office/drawing/2014/main" id="{5794181E-353D-5A84-1032-D26F393133B6}"/>
              </a:ext>
            </a:extLst>
          </p:cNvPr>
          <p:cNvSpPr/>
          <p:nvPr/>
        </p:nvSpPr>
        <p:spPr>
          <a:xfrm>
            <a:off x="0" y="1"/>
            <a:ext cx="2194560" cy="2255519"/>
          </a:xfrm>
          <a:prstGeom prst="halfFram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09D644-23AC-C3A2-ECE1-60B65B05C7C8}"/>
              </a:ext>
            </a:extLst>
          </p:cNvPr>
          <p:cNvSpPr txBox="1"/>
          <p:nvPr/>
        </p:nvSpPr>
        <p:spPr>
          <a:xfrm>
            <a:off x="3322320" y="1481950"/>
            <a:ext cx="8112760" cy="41061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latin typeface="Aptos" panose="020B0004020202020204" pitchFamily="34" charset="0"/>
              </a:rPr>
              <a:t>Designed to recognize hand gestures and convert them into meaningful text and speech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latin typeface="Aptos" panose="020B0004020202020204" pitchFamily="34" charset="0"/>
              </a:rPr>
              <a:t>Enables communication for deaf and speech-impaired users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3CC33"/>
                </a:solidFill>
                <a:latin typeface="Aptos" panose="020B0004020202020204" pitchFamily="34" charset="0"/>
              </a:rPr>
              <a:t>Design Objectives: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latin typeface="Aptos" panose="020B0004020202020204" pitchFamily="34" charset="0"/>
              </a:rPr>
              <a:t>Accurate real-time gesture recognition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latin typeface="Aptos" panose="020B0004020202020204" pitchFamily="34" charset="0"/>
              </a:rPr>
              <a:t>Natural sentence generation from gestures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latin typeface="Aptos" panose="020B0004020202020204" pitchFamily="34" charset="0"/>
              </a:rPr>
              <a:t>Lightweight and fast inference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latin typeface="Aptos" panose="020B0004020202020204" pitchFamily="34" charset="0"/>
              </a:rPr>
              <a:t>User-friendly communication support</a:t>
            </a:r>
            <a:endParaRPr lang="en-IN" sz="2200" dirty="0">
              <a:latin typeface="Aptos" panose="020B0004020202020204" pitchFamily="34" charset="0"/>
            </a:endParaRPr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8C6D97F5-8272-3A2C-E27F-8678A17B8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020445"/>
            <a:ext cx="2773680" cy="5029200"/>
          </a:xfrm>
        </p:spPr>
        <p:txBody>
          <a:bodyPr/>
          <a:lstStyle/>
          <a:p>
            <a:r>
              <a:rPr lang="en-IN" dirty="0"/>
              <a:t>SYSTEM DESIGN</a:t>
            </a:r>
            <a:endParaRPr 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374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B07BD5-9C60-BF95-9C44-FF4075D7FDBE}"/>
              </a:ext>
            </a:extLst>
          </p:cNvPr>
          <p:cNvSpPr txBox="1"/>
          <p:nvPr/>
        </p:nvSpPr>
        <p:spPr>
          <a:xfrm>
            <a:off x="644893" y="365760"/>
            <a:ext cx="50532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203378-CF19-63DB-E5FC-DC27C7985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93" y="1133102"/>
            <a:ext cx="10913635" cy="510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4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ADAC450-CE72-3E0E-4E28-C0E4626BED75}"/>
              </a:ext>
            </a:extLst>
          </p:cNvPr>
          <p:cNvSpPr txBox="1"/>
          <p:nvPr/>
        </p:nvSpPr>
        <p:spPr>
          <a:xfrm>
            <a:off x="3830320" y="1066815"/>
            <a:ext cx="7813040" cy="52096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Aptos" panose="020B0004020202020204" pitchFamily="34" charset="0"/>
              </a:rPr>
              <a:t>Database / Data Storage Design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Aptos" panose="020B0004020202020204" pitchFamily="34" charset="0"/>
              </a:rPr>
              <a:t>Raw gesture images stored in class-wise folders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Aptos" panose="020B0004020202020204" pitchFamily="34" charset="0"/>
              </a:rPr>
              <a:t>Extracted landmark data stored as CSV files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Aptos" panose="020B0004020202020204" pitchFamily="34" charset="0"/>
              </a:rPr>
              <a:t>Trained models stored for reuse and deployment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Aptos" panose="020B0004020202020204" pitchFamily="34" charset="0"/>
              </a:rPr>
              <a:t>Stored Data Includes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Aptos" panose="020B0004020202020204" pitchFamily="34" charset="0"/>
              </a:rPr>
              <a:t>Gesture images (single-hand &amp; two-hand)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Aptos" panose="020B0004020202020204" pitchFamily="34" charset="0"/>
              </a:rPr>
              <a:t>Landmark feature vectors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Aptos" panose="020B0004020202020204" pitchFamily="34" charset="0"/>
              </a:rPr>
              <a:t>Gesture labels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Aptos" panose="020B0004020202020204" pitchFamily="34" charset="0"/>
              </a:rPr>
              <a:t>Trained models (HDF5 / </a:t>
            </a:r>
            <a:r>
              <a:rPr lang="en-IN" sz="2400" dirty="0" err="1">
                <a:latin typeface="Aptos" panose="020B0004020202020204" pitchFamily="34" charset="0"/>
              </a:rPr>
              <a:t>TFLite</a:t>
            </a:r>
            <a:r>
              <a:rPr lang="en-IN" sz="2400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8A1CD851-545A-DC03-4B98-BA907E387395}"/>
              </a:ext>
            </a:extLst>
          </p:cNvPr>
          <p:cNvSpPr/>
          <p:nvPr/>
        </p:nvSpPr>
        <p:spPr>
          <a:xfrm>
            <a:off x="0" y="1"/>
            <a:ext cx="2194560" cy="2255519"/>
          </a:xfrm>
          <a:prstGeom prst="halfFram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14EB6BE0-42E0-0E9F-9B6E-81EF36F36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60" y="1071895"/>
            <a:ext cx="3383280" cy="5029200"/>
          </a:xfrm>
        </p:spPr>
        <p:txBody>
          <a:bodyPr>
            <a:normAutofit/>
          </a:bodyPr>
          <a:lstStyle/>
          <a:p>
            <a:r>
              <a:rPr lang="en-IN" sz="4000" dirty="0"/>
              <a:t>DATABASE DESIGN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901563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A80E68A-A7C0-B517-E612-F714AA08B21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5988" b="5988"/>
          <a:stretch>
            <a:fillRect/>
          </a:stretch>
        </p:blipFill>
        <p:spPr>
          <a:xfrm>
            <a:off x="3017520" y="833118"/>
            <a:ext cx="8636000" cy="50292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67F23-1486-FDBA-1DF2-56FCB1D79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8FE53DF3-2EF3-61A7-8157-69B97BEC5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60" y="1071895"/>
            <a:ext cx="2397760" cy="5029200"/>
          </a:xfrm>
        </p:spPr>
        <p:txBody>
          <a:bodyPr>
            <a:normAutofit/>
          </a:bodyPr>
          <a:lstStyle/>
          <a:p>
            <a:r>
              <a:rPr lang="en-IN" sz="4000" dirty="0"/>
              <a:t>Use Case Diagram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661861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942B267-3F1E-4007-BC40-8D7EC8DBD4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5988" b="5988"/>
          <a:stretch>
            <a:fillRect/>
          </a:stretch>
        </p:blipFill>
        <p:spPr>
          <a:xfrm>
            <a:off x="1229360" y="1163172"/>
            <a:ext cx="10048240" cy="495808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76478-74EF-27C7-A1F8-3FD1BAE2B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B08707-8FB7-0A11-7170-574B075F3B95}"/>
              </a:ext>
            </a:extLst>
          </p:cNvPr>
          <p:cNvSpPr txBox="1"/>
          <p:nvPr/>
        </p:nvSpPr>
        <p:spPr>
          <a:xfrm>
            <a:off x="436880" y="61338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effectLst/>
                <a:latin typeface="Aptos" panose="020B0004020202020204" pitchFamily="34" charset="0"/>
              </a:rPr>
              <a:t>UML Activity Diagram</a:t>
            </a:r>
            <a:endParaRPr lang="en-IN" sz="28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277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D6EAA-B038-FA3D-FC47-F518C8C68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Deployment Diagram:</a:t>
            </a:r>
            <a:endParaRPr lang="en-IN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B9D67-CEB2-BD5F-8EA5-AE652672F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AFD224-43D8-203A-D1A9-FA56700C1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20" y="2163512"/>
            <a:ext cx="11277600" cy="39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342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DC236-3B6E-457C-00A3-EB323431B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530D2C-6A99-1A9D-5404-8068DE1E30C3}"/>
              </a:ext>
            </a:extLst>
          </p:cNvPr>
          <p:cNvSpPr txBox="1"/>
          <p:nvPr/>
        </p:nvSpPr>
        <p:spPr>
          <a:xfrm>
            <a:off x="890604" y="835372"/>
            <a:ext cx="60976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Aptos" panose="020B0004020202020204" pitchFamily="34" charset="0"/>
              </a:rPr>
              <a:t>Tools and Technologies Used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5585DBFA-7801-A983-E905-23466B48191F}"/>
              </a:ext>
            </a:extLst>
          </p:cNvPr>
          <p:cNvSpPr txBox="1">
            <a:spLocks/>
          </p:cNvSpPr>
          <p:nvPr/>
        </p:nvSpPr>
        <p:spPr>
          <a:xfrm>
            <a:off x="6237171" y="1597793"/>
            <a:ext cx="5409397" cy="4697127"/>
          </a:xfrm>
          <a:prstGeom prst="rect">
            <a:avLst/>
          </a:prstGeom>
          <a:ln>
            <a:solidFill>
              <a:schemeClr val="accent6">
                <a:lumMod val="2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Web Technologies:</a:t>
            </a:r>
          </a:p>
          <a:p>
            <a:pPr>
              <a:lnSpc>
                <a:spcPct val="11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HTML5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structure the web interface.</a:t>
            </a:r>
          </a:p>
          <a:p>
            <a:pPr>
              <a:lnSpc>
                <a:spcPct val="11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CSS3 / Bootstrap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responsive and user-friendly UI design.</a:t>
            </a:r>
          </a:p>
          <a:p>
            <a:pPr>
              <a:lnSpc>
                <a:spcPct val="11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JavaScript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real-time gesture recognition and front-end logic.</a:t>
            </a:r>
          </a:p>
          <a:p>
            <a:pPr>
              <a:lnSpc>
                <a:spcPct val="11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Web APIs (Camera, Speech Synthesis)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video capture and audio output.</a:t>
            </a:r>
          </a:p>
          <a:p>
            <a:pPr>
              <a:lnSpc>
                <a:spcPct val="11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Development &amp; Deployment Tools:</a:t>
            </a:r>
          </a:p>
          <a:p>
            <a:pPr>
              <a:lnSpc>
                <a:spcPct val="11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Flask (optional)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backend integration if required.</a:t>
            </a:r>
          </a:p>
          <a:p>
            <a:pPr>
              <a:lnSpc>
                <a:spcPct val="11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VS Code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as the development environment.</a:t>
            </a:r>
          </a:p>
          <a:p>
            <a:pPr>
              <a:lnSpc>
                <a:spcPct val="11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Browser (Chrome)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run and test the web-based application.</a:t>
            </a:r>
          </a:p>
        </p:txBody>
      </p:sp>
      <p:sp>
        <p:nvSpPr>
          <p:cNvPr id="2" name="Half Frame 1">
            <a:extLst>
              <a:ext uri="{FF2B5EF4-FFF2-40B4-BE49-F238E27FC236}">
                <a16:creationId xmlns:a16="http://schemas.microsoft.com/office/drawing/2014/main" id="{DDD827D7-AADA-76F9-4E03-53EBB7536FB1}"/>
              </a:ext>
            </a:extLst>
          </p:cNvPr>
          <p:cNvSpPr/>
          <p:nvPr/>
        </p:nvSpPr>
        <p:spPr>
          <a:xfrm>
            <a:off x="0" y="1"/>
            <a:ext cx="2194560" cy="2255519"/>
          </a:xfrm>
          <a:prstGeom prst="halfFram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E6C8161-3467-D51C-BBBD-3747D5C612D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5432" y="1597794"/>
            <a:ext cx="5691739" cy="4697128"/>
          </a:xfrm>
          <a:ln>
            <a:solidFill>
              <a:schemeClr val="accent6">
                <a:lumMod val="25000"/>
              </a:schemeClr>
            </a:solidFill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Programming Languages: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Python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Used for data preprocessing, model training, and dataset preparation.</a:t>
            </a:r>
          </a:p>
          <a:p>
            <a:pPr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Machine Learning &amp; AI: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MLP (Multi-Layer Perceptron)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Used for hand gesture classification.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TensorFlow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training the gesture recognition model.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TensorFlow Lite (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TFLite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Used to deploy the trained model efficiently in the web application.</a:t>
            </a:r>
          </a:p>
          <a:p>
            <a:pPr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Computer Vision: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real-time hand landmark detection and tracking.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OpenCV (optional)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Used during data collection and image processing.</a:t>
            </a:r>
          </a:p>
        </p:txBody>
      </p:sp>
    </p:spTree>
    <p:extLst>
      <p:ext uri="{BB962C8B-B14F-4D97-AF65-F5344CB8AC3E}">
        <p14:creationId xmlns:p14="http://schemas.microsoft.com/office/powerpoint/2010/main" val="1303561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5A00C-B3BC-7B81-8643-66C333D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28319"/>
            <a:ext cx="10027920" cy="833121"/>
          </a:xfrm>
        </p:spPr>
        <p:txBody>
          <a:bodyPr>
            <a:normAutofit fontScale="90000"/>
          </a:bodyPr>
          <a:lstStyle/>
          <a:p>
            <a:r>
              <a:rPr lang="en-US" dirty="0"/>
              <a:t>D</a:t>
            </a:r>
            <a:r>
              <a:rPr lang="en-IN" dirty="0"/>
              <a:t>ATA PREPROCESSING&amp;FUTURE </a:t>
            </a:r>
            <a:r>
              <a:rPr lang="en-US" dirty="0"/>
              <a:t>ENGINEERING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84D5355-17F1-8476-5857-3DFAA5BB4B28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701040" y="1240915"/>
            <a:ext cx="5394960" cy="4632037"/>
          </a:xfrm>
          <a:prstGeom prst="rect">
            <a:avLst/>
          </a:prstGeom>
          <a:noFill/>
          <a:ln w="9525">
            <a:solidFill>
              <a:schemeClr val="accent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400" b="1" dirty="0">
                <a:solidFill>
                  <a:srgbClr val="33CC33"/>
                </a:solidFill>
                <a:latin typeface="Aptos Narrow" panose="020B0004020202020204" pitchFamily="34" charset="0"/>
              </a:rPr>
              <a:t>DATA PREPROCESSING:</a:t>
            </a:r>
            <a:endParaRPr lang="en-IN" sz="1600" b="1" dirty="0">
              <a:solidFill>
                <a:srgbClr val="33CC33"/>
              </a:solidFill>
              <a:latin typeface="Aptos Narrow" panose="020B0004020202020204" pitchFamily="34" charset="0"/>
            </a:endParaRPr>
          </a:p>
          <a:p>
            <a:pPr marL="0" indent="0">
              <a:buNone/>
            </a:pPr>
            <a:r>
              <a:rPr lang="en-IN" sz="2200" b="1" dirty="0">
                <a:latin typeface="Aptos Narrow" panose="020B0004020202020204" pitchFamily="34" charset="0"/>
              </a:rPr>
              <a:t>Preprocessing Steps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Aptos Narrow" panose="020B0004020202020204" pitchFamily="34" charset="0"/>
              </a:rPr>
              <a:t>Image validation and cleaning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Aptos Narrow" panose="020B0004020202020204" pitchFamily="34" charset="0"/>
              </a:rPr>
              <a:t>Landmark normalization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Aptos Narrow" panose="020B0004020202020204" pitchFamily="34" charset="0"/>
              </a:rPr>
              <a:t>Handling missing hands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Aptos Narrow" panose="020B0004020202020204" pitchFamily="34" charset="0"/>
              </a:rPr>
              <a:t>Fixed-length feature vector creation</a:t>
            </a:r>
          </a:p>
          <a:p>
            <a:pPr marL="0" indent="0">
              <a:buNone/>
            </a:pPr>
            <a:r>
              <a:rPr lang="en-IN" sz="2200" b="1" dirty="0">
                <a:latin typeface="Aptos Narrow" panose="020B0004020202020204" pitchFamily="34" charset="0"/>
              </a:rPr>
              <a:t>Purpose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Aptos Narrow" panose="020B0004020202020204" pitchFamily="34" charset="0"/>
              </a:rPr>
              <a:t>Improve model accuracy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Aptos Narrow" panose="020B0004020202020204" pitchFamily="34" charset="0"/>
              </a:rPr>
              <a:t>Ensure consistent gesture representation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Aptos Narrow" panose="020B0004020202020204" pitchFamily="34" charset="0"/>
              </a:rPr>
              <a:t>Reduce noise and variability</a:t>
            </a: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98B7141F-A555-3AF0-F479-D89B960B3C5B}"/>
              </a:ext>
            </a:extLst>
          </p:cNvPr>
          <p:cNvSpPr/>
          <p:nvPr/>
        </p:nvSpPr>
        <p:spPr>
          <a:xfrm>
            <a:off x="0" y="1"/>
            <a:ext cx="2194560" cy="2255519"/>
          </a:xfrm>
          <a:prstGeom prst="halfFram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83C7AF2-7B35-F124-7CC8-9D9A485AA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1440" y="1279387"/>
            <a:ext cx="5217159" cy="4508927"/>
          </a:xfrm>
          <a:prstGeom prst="rect">
            <a:avLst/>
          </a:prstGeom>
          <a:noFill/>
          <a:ln w="9525">
            <a:solidFill>
              <a:schemeClr val="accent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11480" indent="-22860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IN" sz="2200" b="1" dirty="0">
                <a:solidFill>
                  <a:srgbClr val="33CC33"/>
                </a:solidFill>
                <a:latin typeface="Aptos Narrow" panose="020B0004020202020204" pitchFamily="34" charset="0"/>
              </a:rPr>
              <a:t>FEATURE ENGINEERING: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Aptos Narrow" panose="020B0004020202020204" pitchFamily="34" charset="0"/>
              </a:rPr>
              <a:t>Feature Engineering Technique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ptos Narrow" panose="020B0004020202020204" pitchFamily="34" charset="0"/>
              </a:rPr>
              <a:t>Hand landmark coordinates (x, y)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ptos Narrow" panose="020B0004020202020204" pitchFamily="34" charset="0"/>
              </a:rPr>
              <a:t>Relative positioning with respect to wrist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ptos Narrow" panose="020B0004020202020204" pitchFamily="34" charset="0"/>
              </a:rPr>
              <a:t>Normalized feature vectors</a:t>
            </a:r>
          </a:p>
          <a:p>
            <a:pPr marL="0" indent="0">
              <a:buNone/>
            </a:pPr>
            <a:r>
              <a:rPr lang="en-US" sz="2400" b="1" dirty="0">
                <a:latin typeface="Aptos Narrow" panose="020B0004020202020204" pitchFamily="34" charset="0"/>
              </a:rPr>
              <a:t>Advantages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ptos Narrow" panose="020B0004020202020204" pitchFamily="34" charset="0"/>
              </a:rPr>
              <a:t>Lightweight feature representation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ptos Narrow" panose="020B0004020202020204" pitchFamily="34" charset="0"/>
              </a:rPr>
              <a:t>Rotation and scale invariant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ptos Narrow" panose="020B0004020202020204" pitchFamily="34" charset="0"/>
              </a:rPr>
              <a:t>Suitable for real-time inference</a:t>
            </a:r>
          </a:p>
        </p:txBody>
      </p:sp>
    </p:spTree>
    <p:extLst>
      <p:ext uri="{BB962C8B-B14F-4D97-AF65-F5344CB8AC3E}">
        <p14:creationId xmlns:p14="http://schemas.microsoft.com/office/powerpoint/2010/main" val="1875500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53B93-04F0-ABAF-66DA-F1574AB7E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1127760"/>
            <a:ext cx="3271520" cy="5029200"/>
          </a:xfrm>
        </p:spPr>
        <p:txBody>
          <a:bodyPr/>
          <a:lstStyle/>
          <a:p>
            <a:r>
              <a:rPr lang="en-IN" dirty="0"/>
              <a:t>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860C-330D-3785-7CE5-C96AE5BB07A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03041" y="808355"/>
            <a:ext cx="7325359" cy="5699759"/>
          </a:xfrm>
          <a:ln>
            <a:solidFill>
              <a:schemeClr val="accent5"/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33CC33"/>
                </a:solidFill>
                <a:latin typeface="Aptos Narrow" panose="020B0004020202020204" pitchFamily="34" charset="0"/>
              </a:rPr>
              <a:t>Models Trained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ptos Narrow" panose="020B0004020202020204" pitchFamily="34" charset="0"/>
              </a:rPr>
              <a:t>Logistic Regression (Baseline Model)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ptos Narrow" panose="020B0004020202020204" pitchFamily="34" charset="0"/>
              </a:rPr>
              <a:t>Random Forest Classifier</a:t>
            </a:r>
          </a:p>
          <a:p>
            <a:pPr>
              <a:lnSpc>
                <a:spcPct val="100000"/>
              </a:lnSpc>
            </a:pPr>
            <a:r>
              <a:rPr lang="en-US" b="1" dirty="0">
                <a:latin typeface="Aptos Narrow" panose="020B0004020202020204" pitchFamily="34" charset="0"/>
              </a:rPr>
              <a:t>Multi-Layer Perceptron (MLP)</a:t>
            </a:r>
            <a:endParaRPr lang="en-US" dirty="0">
              <a:latin typeface="Aptos Narrow" panose="020B00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33CC33"/>
                </a:solidFill>
                <a:latin typeface="Aptos Narrow" panose="020B0004020202020204" pitchFamily="34" charset="0"/>
              </a:rPr>
              <a:t>Final Model Selected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ptos Narrow" panose="020B0004020202020204" pitchFamily="34" charset="0"/>
              </a:rPr>
              <a:t>✔ </a:t>
            </a:r>
            <a:r>
              <a:rPr lang="en-US" b="1" dirty="0">
                <a:latin typeface="Aptos Narrow" panose="020B0004020202020204" pitchFamily="34" charset="0"/>
              </a:rPr>
              <a:t>MLP Classifier (Deep Learning Model)</a:t>
            </a:r>
            <a:endParaRPr lang="en-US" dirty="0">
              <a:latin typeface="Aptos Narrow" panose="020B00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33CC33"/>
                </a:solidFill>
                <a:latin typeface="Aptos Narrow" panose="020B0004020202020204" pitchFamily="34" charset="0"/>
              </a:rPr>
              <a:t>Reason for Selection: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ptos Narrow" panose="020B0004020202020204" pitchFamily="34" charset="0"/>
              </a:rPr>
              <a:t>Best balance between </a:t>
            </a:r>
            <a:r>
              <a:rPr lang="en-US" b="1" dirty="0">
                <a:latin typeface="Aptos Narrow" panose="020B0004020202020204" pitchFamily="34" charset="0"/>
              </a:rPr>
              <a:t>accuracy and inference speed</a:t>
            </a:r>
            <a:endParaRPr lang="en-US" dirty="0">
              <a:latin typeface="Aptos Narrow" panose="020B00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Aptos Narrow" panose="020B0004020202020204" pitchFamily="34" charset="0"/>
              </a:rPr>
              <a:t>Effectively captures </a:t>
            </a:r>
            <a:r>
              <a:rPr lang="en-US" b="1" dirty="0">
                <a:latin typeface="Aptos Narrow" panose="020B0004020202020204" pitchFamily="34" charset="0"/>
              </a:rPr>
              <a:t>non-linear relationships</a:t>
            </a:r>
            <a:r>
              <a:rPr lang="en-US" dirty="0">
                <a:latin typeface="Aptos Narrow" panose="020B0004020202020204" pitchFamily="34" charset="0"/>
              </a:rPr>
              <a:t> in hand gesture landmark space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ptos Narrow" panose="020B0004020202020204" pitchFamily="34" charset="0"/>
              </a:rPr>
              <a:t>Performs well for both </a:t>
            </a:r>
            <a:r>
              <a:rPr lang="en-US" b="1" dirty="0">
                <a:latin typeface="Aptos Narrow" panose="020B0004020202020204" pitchFamily="34" charset="0"/>
              </a:rPr>
              <a:t>single-hand and two-hand gestures</a:t>
            </a:r>
            <a:endParaRPr lang="en-US" dirty="0">
              <a:latin typeface="Aptos Narrow" panose="020B00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latin typeface="Aptos Narrow" panose="020B0004020202020204" pitchFamily="34" charset="0"/>
              </a:rPr>
              <a:t>Lightweight architecture</a:t>
            </a:r>
            <a:r>
              <a:rPr lang="en-US" dirty="0">
                <a:latin typeface="Aptos Narrow" panose="020B0004020202020204" pitchFamily="34" charset="0"/>
              </a:rPr>
              <a:t>, suitable for </a:t>
            </a:r>
            <a:r>
              <a:rPr lang="en-US" b="1" dirty="0" err="1">
                <a:latin typeface="Aptos Narrow" panose="020B0004020202020204" pitchFamily="34" charset="0"/>
              </a:rPr>
              <a:t>TFLite</a:t>
            </a:r>
            <a:r>
              <a:rPr lang="en-US" b="1" dirty="0">
                <a:latin typeface="Aptos Narrow" panose="020B0004020202020204" pitchFamily="34" charset="0"/>
              </a:rPr>
              <a:t> conversion and real-time deployment</a:t>
            </a:r>
            <a:endParaRPr lang="en-US" dirty="0">
              <a:latin typeface="Aptos Narrow" panose="020B0004020202020204" pitchFamily="34" charset="0"/>
            </a:endParaRP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F64AFF8F-DBA5-3877-F3D3-DBB4428CCD72}"/>
              </a:ext>
            </a:extLst>
          </p:cNvPr>
          <p:cNvSpPr/>
          <p:nvPr/>
        </p:nvSpPr>
        <p:spPr>
          <a:xfrm>
            <a:off x="0" y="1"/>
            <a:ext cx="2194560" cy="2255519"/>
          </a:xfrm>
          <a:prstGeom prst="halfFram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794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alf Frame 5">
            <a:extLst>
              <a:ext uri="{FF2B5EF4-FFF2-40B4-BE49-F238E27FC236}">
                <a16:creationId xmlns:a16="http://schemas.microsoft.com/office/drawing/2014/main" id="{EB75A650-B18E-1CB5-FB17-FAEA1CAFB971}"/>
              </a:ext>
            </a:extLst>
          </p:cNvPr>
          <p:cNvSpPr/>
          <p:nvPr/>
        </p:nvSpPr>
        <p:spPr>
          <a:xfrm>
            <a:off x="0" y="1"/>
            <a:ext cx="2194560" cy="2255519"/>
          </a:xfrm>
          <a:prstGeom prst="halfFram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722C4D3-4B21-61CD-4AC5-9A12BAE54ECD}"/>
              </a:ext>
            </a:extLst>
          </p:cNvPr>
          <p:cNvSpPr txBox="1">
            <a:spLocks/>
          </p:cNvSpPr>
          <p:nvPr/>
        </p:nvSpPr>
        <p:spPr>
          <a:xfrm>
            <a:off x="863600" y="810815"/>
            <a:ext cx="5019040" cy="55168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IN" sz="2400" b="1" dirty="0">
                <a:solidFill>
                  <a:srgbClr val="24C6CA"/>
                </a:solidFill>
                <a:latin typeface="Aptos Narrow" panose="020B0004020202020204" pitchFamily="34" charset="0"/>
              </a:rPr>
              <a:t>Evaluation Metrics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Aptos Narrow" panose="020B0004020202020204" pitchFamily="34" charset="0"/>
              </a:rPr>
              <a:t>Accuracy (Overall gesture classification accuracy)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Aptos Narrow" panose="020B0004020202020204" pitchFamily="34" charset="0"/>
              </a:rPr>
              <a:t>Confusion Matrix (Class-wise gesture separation)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Aptos Narrow" panose="020B0004020202020204" pitchFamily="34" charset="0"/>
              </a:rPr>
              <a:t>F1-Score (Per gesture class performance)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Aptos Narrow" panose="020B0004020202020204" pitchFamily="34" charset="0"/>
              </a:rPr>
              <a:t>Inference Speed (Frames Per Second – FPS)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b="1" dirty="0">
                <a:solidFill>
                  <a:srgbClr val="24C6CA"/>
                </a:solidFill>
                <a:latin typeface="Aptos Narrow" panose="020B0004020202020204" pitchFamily="34" charset="0"/>
              </a:rPr>
              <a:t>Validation Techniques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Aptos Narrow" panose="020B0004020202020204" pitchFamily="34" charset="0"/>
              </a:rPr>
              <a:t>Train–test split evaluation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Aptos Narrow" panose="020B0004020202020204" pitchFamily="34" charset="0"/>
              </a:rPr>
              <a:t>Class-wise performance analysis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Aptos Narrow" panose="020B0004020202020204" pitchFamily="34" charset="0"/>
              </a:rPr>
              <a:t>Real-time testing using live camera input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Aptos Narrow" panose="020B0004020202020204" pitchFamily="34" charset="0"/>
              </a:rPr>
              <a:t>Testing under different lighting conditions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endParaRPr lang="en-IN" dirty="0">
              <a:latin typeface="Aptos Narrow" panose="020B00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1062FFB4-E55D-67B7-75E3-87D4CA2EB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737711"/>
            <a:ext cx="5577840" cy="5663089"/>
          </a:xfrm>
          <a:prstGeom prst="rect">
            <a:avLst/>
          </a:prstGeom>
          <a:noFill/>
          <a:ln w="9525">
            <a:solidFill>
              <a:schemeClr val="accent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11480" indent="-22860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IN" sz="2400" b="1" dirty="0">
                <a:solidFill>
                  <a:srgbClr val="24C6CA"/>
                </a:solidFill>
                <a:latin typeface="Aptos Narrow" panose="020B0004020202020204" pitchFamily="34" charset="0"/>
              </a:rPr>
              <a:t>Unit Testing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ptos Narrow" panose="020B0004020202020204" pitchFamily="34" charset="0"/>
              </a:rPr>
              <a:t>Camera input handling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ptos Narrow" panose="020B0004020202020204" pitchFamily="34" charset="0"/>
              </a:rPr>
              <a:t>Landmark extraction module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ptos Narrow" panose="020B0004020202020204" pitchFamily="34" charset="0"/>
              </a:rPr>
              <a:t>Model loading and inference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b="1" dirty="0">
                <a:solidFill>
                  <a:srgbClr val="24C6CA"/>
                </a:solidFill>
                <a:latin typeface="Aptos Narrow" panose="020B0004020202020204" pitchFamily="34" charset="0"/>
              </a:rPr>
              <a:t>Integration Testing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ptos Narrow" panose="020B0004020202020204" pitchFamily="34" charset="0"/>
              </a:rPr>
              <a:t>UI + </a:t>
            </a:r>
            <a:r>
              <a:rPr lang="en-IN" dirty="0" err="1">
                <a:latin typeface="Aptos Narrow" panose="020B0004020202020204" pitchFamily="34" charset="0"/>
              </a:rPr>
              <a:t>MediaPipe</a:t>
            </a:r>
            <a:r>
              <a:rPr lang="en-IN" dirty="0">
                <a:latin typeface="Aptos Narrow" panose="020B0004020202020204" pitchFamily="34" charset="0"/>
              </a:rPr>
              <a:t> + ML model integration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200" b="1" dirty="0">
                <a:solidFill>
                  <a:srgbClr val="24C6CA"/>
                </a:solidFill>
                <a:latin typeface="Aptos Narrow" panose="020B0004020202020204" pitchFamily="34" charset="0"/>
              </a:rPr>
              <a:t>System Testing: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ptos Narrow" panose="020B0004020202020204" pitchFamily="34" charset="0"/>
              </a:rPr>
              <a:t>End-to-end real-time gesture to sentence generation</a:t>
            </a:r>
            <a:endParaRPr lang="en-US" sz="2400" b="1" dirty="0">
              <a:solidFill>
                <a:srgbClr val="24C6CA"/>
              </a:solidFill>
              <a:latin typeface="Aptos Narrow" panose="020B00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b="1" dirty="0">
                <a:solidFill>
                  <a:srgbClr val="24C6CA"/>
                </a:solidFill>
                <a:latin typeface="Aptos Narrow" panose="020B0004020202020204" pitchFamily="34" charset="0"/>
              </a:rPr>
              <a:t>Outcome: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ptos Narrow" panose="020B0004020202020204" pitchFamily="34" charset="0"/>
              </a:rPr>
              <a:t>table gesture detection in real-time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ptos Narrow" panose="020B0004020202020204" pitchFamily="34" charset="0"/>
              </a:rPr>
              <a:t>Smooth sentence construction workflow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ptos Narrow" panose="020B0004020202020204" pitchFamily="34" charset="0"/>
              </a:rPr>
              <a:t>Graceful handling of edge cases (no hand / partial hand detected)</a:t>
            </a:r>
            <a:endParaRPr lang="en-US" b="1" dirty="0">
              <a:solidFill>
                <a:srgbClr val="24C6CA"/>
              </a:solidFill>
              <a:latin typeface="Aptos Narrow" panose="020B0004020202020204" pitchFamily="34" charset="0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0B55613C-1ED8-2C7C-0640-4E47AF1E6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+ MediaPipe + ML model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B528A4-9FA8-C3BC-69C6-4F8EE19F18BE}"/>
              </a:ext>
            </a:extLst>
          </p:cNvPr>
          <p:cNvSpPr txBox="1"/>
          <p:nvPr/>
        </p:nvSpPr>
        <p:spPr>
          <a:xfrm>
            <a:off x="3235960" y="349150"/>
            <a:ext cx="4297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ptos Narrow" panose="020B0004020202020204" pitchFamily="34" charset="0"/>
              </a:rPr>
              <a:t>MODEL EVALUATION &amp; TESTING</a:t>
            </a:r>
          </a:p>
        </p:txBody>
      </p:sp>
    </p:spTree>
    <p:extLst>
      <p:ext uri="{BB962C8B-B14F-4D97-AF65-F5344CB8AC3E}">
        <p14:creationId xmlns:p14="http://schemas.microsoft.com/office/powerpoint/2010/main" val="4088484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8ED16-73CE-3F33-CEE0-F528F331B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85114"/>
            <a:ext cx="10331450" cy="765256"/>
          </a:xfrm>
        </p:spPr>
        <p:txBody>
          <a:bodyPr>
            <a:normAutofit/>
          </a:bodyPr>
          <a:lstStyle/>
          <a:p>
            <a:r>
              <a:rPr lang="en-US" dirty="0">
                <a:latin typeface="Aptos Display" panose="020B0004020202020204" pitchFamily="34" charset="0"/>
                <a:cs typeface="Arial" panose="020B0604020202020204" pitchFamily="34" charset="0"/>
              </a:rPr>
              <a:t>Results:</a:t>
            </a:r>
            <a:endParaRPr lang="en-IN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992074C8-F9B1-68A1-E095-8ABF72909B99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/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B5C2D-A8CB-25CE-EE91-EDF6E24B0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2C038-F0EE-DA4C-B4F8-D334E0714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63859"/>
            <a:ext cx="10469880" cy="500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69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BAB9F-8117-7D26-78AB-9D14AD958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85113"/>
            <a:ext cx="10331450" cy="893187"/>
          </a:xfrm>
        </p:spPr>
        <p:txBody>
          <a:bodyPr/>
          <a:lstStyle/>
          <a:p>
            <a:r>
              <a:rPr lang="en-US" dirty="0">
                <a:latin typeface="Aptos Display" panose="020B0004020202020204" pitchFamily="34" charset="0"/>
                <a:cs typeface="Arial" panose="020B0604020202020204" pitchFamily="34" charset="0"/>
              </a:rPr>
              <a:t>Results: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84362-35BE-816C-4D18-80C48F5CF1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A77650-10A2-271A-D820-7E2071055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" y="1491790"/>
            <a:ext cx="10591800" cy="488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07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3436-1009-6D6F-F364-4B0EE6E07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485113"/>
            <a:ext cx="10331450" cy="762835"/>
          </a:xfrm>
        </p:spPr>
        <p:txBody>
          <a:bodyPr/>
          <a:lstStyle/>
          <a:p>
            <a:r>
              <a:rPr lang="en-US" dirty="0">
                <a:latin typeface="Aptos Display" panose="020B0004020202020204" pitchFamily="34" charset="0"/>
                <a:cs typeface="Arial" panose="020B0604020202020204" pitchFamily="34" charset="0"/>
              </a:rPr>
              <a:t>Results: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0F823-9106-F490-5B9A-6CEF4AA11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EF6CA5-BAD4-78E3-CACD-3E4E6DD2F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" y="1361439"/>
            <a:ext cx="10515600" cy="501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037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08CDB-20B2-AAA5-46B8-48C330D98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85113"/>
            <a:ext cx="10331450" cy="774727"/>
          </a:xfrm>
        </p:spPr>
        <p:txBody>
          <a:bodyPr/>
          <a:lstStyle/>
          <a:p>
            <a:r>
              <a:rPr lang="en-US" dirty="0">
                <a:latin typeface="Aptos Display" panose="020B0004020202020204" pitchFamily="34" charset="0"/>
                <a:cs typeface="Arial" panose="020B0604020202020204" pitchFamily="34" charset="0"/>
              </a:rPr>
              <a:t>Results: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0C1A9-DBA7-6D82-4953-6B43A9E58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F864D0-9F8A-8ED6-9A27-16BEAA68F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" y="1251977"/>
            <a:ext cx="10488930" cy="486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93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0">
            <a:extLst>
              <a:ext uri="{FF2B5EF4-FFF2-40B4-BE49-F238E27FC236}">
                <a16:creationId xmlns:a16="http://schemas.microsoft.com/office/drawing/2014/main" id="{2A391E89-B93B-1D3F-0C78-B1F7B98F2486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1049687" y="860032"/>
            <a:ext cx="9933273" cy="48402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25000"/>
                  </a:schemeClr>
                </a:solidFill>
                <a:latin typeface="Aptos Narrow" panose="020B0004020202020204" pitchFamily="34" charset="0"/>
              </a:rPr>
              <a:t>Advantages &amp; Limitations</a:t>
            </a:r>
          </a:p>
          <a:p>
            <a:r>
              <a:rPr lang="en-US" sz="2200" b="1" dirty="0">
                <a:solidFill>
                  <a:srgbClr val="FF0000"/>
                </a:solidFill>
                <a:latin typeface="Aptos Narrow" panose="020B0004020202020204" pitchFamily="34" charset="0"/>
              </a:rPr>
              <a:t>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ptos Narrow" panose="020B0004020202020204" pitchFamily="34" charset="0"/>
              </a:rPr>
              <a:t>Real-Time Performance</a:t>
            </a:r>
            <a:r>
              <a:rPr lang="en-US" dirty="0">
                <a:latin typeface="Aptos Narrow" panose="020B0004020202020204" pitchFamily="34" charset="0"/>
              </a:rPr>
              <a:t> – Provides instant gesture recognition with low latency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ptos Narrow" panose="020B0004020202020204" pitchFamily="34" charset="0"/>
              </a:rPr>
              <a:t>Cost-Effective Solution</a:t>
            </a:r>
            <a:r>
              <a:rPr lang="en-US" dirty="0">
                <a:latin typeface="Aptos Narrow" panose="020B0004020202020204" pitchFamily="34" charset="0"/>
              </a:rPr>
              <a:t> – Works on standard webcams without specialized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ptos Narrow" panose="020B0004020202020204" pitchFamily="34" charset="0"/>
              </a:rPr>
              <a:t>Lightweight Model</a:t>
            </a:r>
            <a:r>
              <a:rPr lang="en-US" dirty="0">
                <a:latin typeface="Aptos Narrow" panose="020B0004020202020204" pitchFamily="34" charset="0"/>
              </a:rPr>
              <a:t> – MLP + landmark-based approach enables fast inference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ptos Narrow" panose="020B0004020202020204" pitchFamily="34" charset="0"/>
              </a:rPr>
              <a:t>Privacy Preserving</a:t>
            </a:r>
            <a:r>
              <a:rPr lang="en-US" dirty="0">
                <a:latin typeface="Aptos Narrow" panose="020B0004020202020204" pitchFamily="34" charset="0"/>
              </a:rPr>
              <a:t> – Uses hand </a:t>
            </a:r>
            <a:r>
              <a:rPr lang="en-US" dirty="0" err="1">
                <a:latin typeface="Aptos Narrow" panose="020B0004020202020204" pitchFamily="34" charset="0"/>
              </a:rPr>
              <a:t>keypoints</a:t>
            </a:r>
            <a:r>
              <a:rPr lang="en-US" dirty="0">
                <a:latin typeface="Aptos Narrow" panose="020B0004020202020204" pitchFamily="34" charset="0"/>
              </a:rPr>
              <a:t> instead of raw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ptos Narrow" panose="020B0004020202020204" pitchFamily="34" charset="0"/>
              </a:rPr>
              <a:t>Web-Based Accessibility</a:t>
            </a:r>
            <a:r>
              <a:rPr lang="en-US" dirty="0">
                <a:latin typeface="Aptos Narrow" panose="020B0004020202020204" pitchFamily="34" charset="0"/>
              </a:rPr>
              <a:t> – Runs directly in the browser, no installation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ptos Narrow" panose="020B0004020202020204" pitchFamily="34" charset="0"/>
              </a:rPr>
              <a:t>Scalable Design</a:t>
            </a:r>
            <a:r>
              <a:rPr lang="en-US" dirty="0">
                <a:latin typeface="Aptos Narrow" panose="020B0004020202020204" pitchFamily="34" charset="0"/>
              </a:rPr>
              <a:t> – Easy to add new gestures through retraining</a:t>
            </a:r>
          </a:p>
          <a:p>
            <a:r>
              <a:rPr lang="en-US" sz="2200" b="1" dirty="0">
                <a:solidFill>
                  <a:srgbClr val="FF0000"/>
                </a:solidFill>
                <a:latin typeface="Aptos Narrow" panose="020B0004020202020204" pitchFamily="34" charset="0"/>
              </a:rPr>
              <a:t>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ptos Narrow" panose="020B0004020202020204" pitchFamily="34" charset="0"/>
              </a:rPr>
              <a:t>Lighting Dependency</a:t>
            </a:r>
            <a:r>
              <a:rPr lang="en-US" dirty="0">
                <a:latin typeface="Aptos Narrow" panose="020B0004020202020204" pitchFamily="34" charset="0"/>
              </a:rPr>
              <a:t> – Performance decreases under poor lighting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ptos Narrow" panose="020B0004020202020204" pitchFamily="34" charset="0"/>
              </a:rPr>
              <a:t>Static Gesture Support</a:t>
            </a:r>
            <a:r>
              <a:rPr lang="en-US" dirty="0">
                <a:latin typeface="Aptos Narrow" panose="020B0004020202020204" pitchFamily="34" charset="0"/>
              </a:rPr>
              <a:t> – Currently limited to static hand gestures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ptos Narrow" panose="020B0004020202020204" pitchFamily="34" charset="0"/>
              </a:rPr>
              <a:t>Limited Vocabulary</a:t>
            </a:r>
            <a:r>
              <a:rPr lang="en-US" dirty="0">
                <a:latin typeface="Aptos Narrow" panose="020B0004020202020204" pitchFamily="34" charset="0"/>
              </a:rPr>
              <a:t> – Supports a predefined set of gestures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ptos Narrow" panose="020B0004020202020204" pitchFamily="34" charset="0"/>
              </a:rPr>
              <a:t>User Variation Sensitivity</a:t>
            </a:r>
            <a:r>
              <a:rPr lang="en-US" dirty="0">
                <a:latin typeface="Aptos Narrow" panose="020B0004020202020204" pitchFamily="34" charset="0"/>
              </a:rPr>
              <a:t> – Accuracy may vary across different users</a:t>
            </a:r>
          </a:p>
        </p:txBody>
      </p:sp>
      <p:sp>
        <p:nvSpPr>
          <p:cNvPr id="20" name="Half Frame 19">
            <a:extLst>
              <a:ext uri="{FF2B5EF4-FFF2-40B4-BE49-F238E27FC236}">
                <a16:creationId xmlns:a16="http://schemas.microsoft.com/office/drawing/2014/main" id="{EB2508B6-E052-368B-B554-20315750C676}"/>
              </a:ext>
            </a:extLst>
          </p:cNvPr>
          <p:cNvSpPr/>
          <p:nvPr/>
        </p:nvSpPr>
        <p:spPr>
          <a:xfrm>
            <a:off x="0" y="1"/>
            <a:ext cx="2194560" cy="2255519"/>
          </a:xfrm>
          <a:prstGeom prst="halfFram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1434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173947-5125-9CCA-F5B8-1E0F466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726938"/>
            <a:ext cx="10515600" cy="2051685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chemeClr val="accent6">
                    <a:lumMod val="25000"/>
                  </a:schemeClr>
                </a:solidFill>
              </a:rPr>
              <a:t>FUTURE SCOPE :</a:t>
            </a:r>
            <a:endParaRPr lang="en-IN" sz="1800" dirty="0">
              <a:solidFill>
                <a:schemeClr val="accent6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652501-C63E-DDDE-9BCA-31BD71C89D5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36317" y="2591153"/>
            <a:ext cx="4953001" cy="1427798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accent3">
                    <a:lumMod val="50000"/>
                  </a:schemeClr>
                </a:solidFill>
                <a:latin typeface="Aptos Narrow" panose="020B0004020202020204" pitchFamily="34" charset="0"/>
              </a:rPr>
              <a:t>dynamic gestures using temporal models (LSTM / RNN):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Enables recognition of time-based and continuous sign movements.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8E4DE36-0F43-12F8-924C-9D5A653BF8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09360" y="2591153"/>
            <a:ext cx="5135880" cy="1427798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b="1" dirty="0">
                <a:solidFill>
                  <a:schemeClr val="accent3">
                    <a:lumMod val="50000"/>
                  </a:schemeClr>
                </a:solidFill>
                <a:latin typeface="Aptos Narrow" panose="020B0004020202020204" pitchFamily="34" charset="0"/>
              </a:rPr>
              <a:t>Expanded two-hand gesture vocabulary:</a:t>
            </a:r>
          </a:p>
          <a:p>
            <a:pPr marL="0" indent="0">
              <a:lnSpc>
                <a:spcPct val="100000"/>
              </a:lnSpc>
              <a:buNone/>
            </a:pPr>
            <a:br>
              <a:rPr lang="en-IN" b="1" dirty="0">
                <a:solidFill>
                  <a:schemeClr val="accent3">
                    <a:lumMod val="50000"/>
                  </a:schemeClr>
                </a:solidFill>
                <a:latin typeface="Aptos Narrow" panose="020B0004020202020204" pitchFamily="34" charset="0"/>
              </a:rPr>
            </a:br>
            <a:r>
              <a:rPr lang="en-US" dirty="0"/>
              <a:t>Allows more expressive and complex sign language communication.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56DB3-3194-15EA-5133-0824FB020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071A9B4C-119F-9D98-CC9F-91F0DD904A8D}"/>
              </a:ext>
            </a:extLst>
          </p:cNvPr>
          <p:cNvSpPr txBox="1">
            <a:spLocks/>
          </p:cNvSpPr>
          <p:nvPr/>
        </p:nvSpPr>
        <p:spPr>
          <a:xfrm>
            <a:off x="1036318" y="4537863"/>
            <a:ext cx="4953001" cy="15315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>
                <a:solidFill>
                  <a:schemeClr val="accent3">
                    <a:lumMod val="50000"/>
                  </a:schemeClr>
                </a:solidFill>
                <a:latin typeface="Aptos Narrow" panose="020B0004020202020204" pitchFamily="34" charset="0"/>
              </a:rPr>
              <a:t>Improved sentence generation logic:</a:t>
            </a:r>
          </a:p>
          <a:p>
            <a:pPr marL="0" indent="0">
              <a:buNone/>
            </a:pPr>
            <a:br>
              <a:rPr lang="en-IN" b="1" dirty="0">
                <a:solidFill>
                  <a:schemeClr val="accent3">
                    <a:lumMod val="50000"/>
                  </a:schemeClr>
                </a:solidFill>
                <a:latin typeface="Aptos Narrow" panose="020B0004020202020204" pitchFamily="34" charset="0"/>
              </a:rPr>
            </a:br>
            <a:r>
              <a:rPr lang="en-US" dirty="0"/>
              <a:t>Produces grammatically correct and context-aware sentences from gestures.</a:t>
            </a:r>
            <a:endParaRPr lang="en-IN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E1EDF323-42C5-779F-9CEB-CB78E23C81BB}"/>
              </a:ext>
            </a:extLst>
          </p:cNvPr>
          <p:cNvSpPr txBox="1">
            <a:spLocks/>
          </p:cNvSpPr>
          <p:nvPr/>
        </p:nvSpPr>
        <p:spPr>
          <a:xfrm>
            <a:off x="6309360" y="4589727"/>
            <a:ext cx="5135880" cy="14277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>
                <a:solidFill>
                  <a:schemeClr val="accent3">
                    <a:lumMod val="50000"/>
                  </a:schemeClr>
                </a:solidFill>
                <a:latin typeface="Aptos Narrow" panose="020B0004020202020204" pitchFamily="34" charset="0"/>
              </a:rPr>
              <a:t>Enhanced text-to-speech support:</a:t>
            </a:r>
          </a:p>
          <a:p>
            <a:pPr marL="0" indent="0">
              <a:buNone/>
            </a:pPr>
            <a:br>
              <a:rPr lang="en-IN" dirty="0"/>
            </a:br>
            <a:r>
              <a:rPr lang="en-US" dirty="0"/>
              <a:t>Converts generated sentences into clear and natural voice output.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450765E2-98B1-DB9D-B3E0-8D3A13B34827}"/>
              </a:ext>
            </a:extLst>
          </p:cNvPr>
          <p:cNvSpPr/>
          <p:nvPr/>
        </p:nvSpPr>
        <p:spPr>
          <a:xfrm>
            <a:off x="0" y="1"/>
            <a:ext cx="2194560" cy="2255519"/>
          </a:xfrm>
          <a:prstGeom prst="halfFram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890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A951FD-B055-4EE8-B6D9-62EC0F39D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20445"/>
            <a:ext cx="3007360" cy="5029200"/>
          </a:xfrm>
        </p:spPr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9D6A613-56D1-D5E8-50BD-E4303B9C4F15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3738881" y="1437354"/>
            <a:ext cx="7160348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proposed system converts sign language gestures into meaningful questions using machine learning techniques.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hand landmark detection and gesture classification ensure accurate and reliable recognition.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Image-based visualization improves accessibility for deaf users who cannot rely only on text.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web-based implementation is cost-effective, user-friendly, and easy to deploy.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system helps bridge the communication gap between deaf and hearing individuals.</a:t>
            </a: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477CDB35-AEA2-877F-DB3A-DA036C908581}"/>
              </a:ext>
            </a:extLst>
          </p:cNvPr>
          <p:cNvSpPr/>
          <p:nvPr/>
        </p:nvSpPr>
        <p:spPr>
          <a:xfrm>
            <a:off x="0" y="1"/>
            <a:ext cx="2194560" cy="2255519"/>
          </a:xfrm>
          <a:prstGeom prst="halfFram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554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961152-381E-D654-15E9-7C4F0960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7160" y="685800"/>
            <a:ext cx="4572000" cy="54864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0384453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B09D"/>
      </a:accent1>
      <a:accent2>
        <a:srgbClr val="FFD7C7"/>
      </a:accent2>
      <a:accent3>
        <a:srgbClr val="FFE9E0"/>
      </a:accent3>
      <a:accent4>
        <a:srgbClr val="55736D"/>
      </a:accent4>
      <a:accent5>
        <a:srgbClr val="88A88E"/>
      </a:accent5>
      <a:accent6>
        <a:srgbClr val="E6FFFB"/>
      </a:accent6>
      <a:hlink>
        <a:srgbClr val="0563C1"/>
      </a:hlink>
      <a:folHlink>
        <a:srgbClr val="954F72"/>
      </a:folHlink>
    </a:clrScheme>
    <a:fontScheme name="Custom 116">
      <a:majorFont>
        <a:latin typeface="Bodoni MT"/>
        <a:ea typeface=""/>
        <a:cs typeface=""/>
      </a:majorFont>
      <a:minorFont>
        <a:latin typeface="Sourc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722518_win32_SD_v11" id="{6E195932-91F4-4861-8538-848409B20D97}" vid="{F5C82CE7-F5AC-4E30-975C-FD228ED220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E4FA29-61E2-42A6-9537-732ED628B6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37CDA33-9251-49D0-A51A-7888AA3E063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3F796806-D3A7-49C6-9335-B8A0B9307F8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Light sales pitch presentation</Template>
  <TotalTime>1750</TotalTime>
  <Words>952</Words>
  <Application>Microsoft Office PowerPoint</Application>
  <PresentationFormat>Widescreen</PresentationFormat>
  <Paragraphs>169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Aptos</vt:lpstr>
      <vt:lpstr>Aptos Display</vt:lpstr>
      <vt:lpstr>Aptos Narrow</vt:lpstr>
      <vt:lpstr>Arial</vt:lpstr>
      <vt:lpstr>Bodoni MT</vt:lpstr>
      <vt:lpstr>Calibri</vt:lpstr>
      <vt:lpstr>Courier New</vt:lpstr>
      <vt:lpstr>Source Sans Pro Light</vt:lpstr>
      <vt:lpstr>Times New Roman</vt:lpstr>
      <vt:lpstr>Wingdings</vt:lpstr>
      <vt:lpstr>Custom</vt:lpstr>
      <vt:lpstr>PowerPoint Presentation</vt:lpstr>
      <vt:lpstr>PowerPoint Presentation</vt:lpstr>
      <vt:lpstr>SYSTEM DESIGN</vt:lpstr>
      <vt:lpstr>PowerPoint Presentation</vt:lpstr>
      <vt:lpstr>DATABASE DESIGN</vt:lpstr>
      <vt:lpstr>Use Case Diagram</vt:lpstr>
      <vt:lpstr>PowerPoint Presentation</vt:lpstr>
      <vt:lpstr>Deployment Diagram:</vt:lpstr>
      <vt:lpstr>PowerPoint Presentation</vt:lpstr>
      <vt:lpstr>DATA PREPROCESSING&amp;FUTURE ENGINEERING</vt:lpstr>
      <vt:lpstr>MODEL TRAINING</vt:lpstr>
      <vt:lpstr>PowerPoint Presentation</vt:lpstr>
      <vt:lpstr>Results:</vt:lpstr>
      <vt:lpstr>Results:</vt:lpstr>
      <vt:lpstr>Results:</vt:lpstr>
      <vt:lpstr>Results:</vt:lpstr>
      <vt:lpstr>PowerPoint Presentation</vt:lpstr>
      <vt:lpstr>FUTURE SCOPE :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CHARAN KUMAR</dc:creator>
  <cp:lastModifiedBy>CHARAN KUMAR</cp:lastModifiedBy>
  <cp:revision>18</cp:revision>
  <dcterms:created xsi:type="dcterms:W3CDTF">2026-01-20T13:16:18Z</dcterms:created>
  <dcterms:modified xsi:type="dcterms:W3CDTF">2026-01-30T01:41:39Z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